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3" r:id="rId4"/>
    <p:sldId id="264" r:id="rId5"/>
    <p:sldId id="267" r:id="rId6"/>
    <p:sldId id="268" r:id="rId7"/>
    <p:sldId id="265" r:id="rId8"/>
    <p:sldId id="269" r:id="rId9"/>
    <p:sldId id="270" r:id="rId10"/>
    <p:sldId id="271" r:id="rId11"/>
    <p:sldId id="272" r:id="rId12"/>
    <p:sldId id="275" r:id="rId13"/>
    <p:sldId id="276" r:id="rId14"/>
    <p:sldId id="277" r:id="rId15"/>
    <p:sldId id="278" r:id="rId16"/>
    <p:sldId id="279" r:id="rId17"/>
    <p:sldId id="274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91" autoAdjust="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5117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 and Basic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 Structure and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ECE2104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E3CDF-C002-268F-6258-5806736C4422}"/>
              </a:ext>
            </a:extLst>
          </p:cNvPr>
          <p:cNvSpPr txBox="1"/>
          <p:nvPr/>
        </p:nvSpPr>
        <p:spPr>
          <a:xfrm>
            <a:off x="285750" y="944161"/>
            <a:ext cx="11811762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D251E"/>
                </a:solidFill>
                <a:latin typeface="Georgia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Stack?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400">
                <a:solidFill>
                  <a:srgbClr val="2D251E"/>
                </a:solidFill>
                <a:latin typeface="Verdana"/>
              </a:defRPr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stack is an Abstract Data Type (ADT), commonly used in most programming languages. It is named stack as it behaves like a real-world stack, for example – a deck of cards or a pile of plates, etc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BBF54-3FC3-3808-A9E9-0EBA3F11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4774"/>
            <a:ext cx="12191999" cy="479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3C6F-68C4-92AA-C9F7-42E23A88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E0307-1D57-F9FD-185C-4C980721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" y="786581"/>
            <a:ext cx="12182883" cy="59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F0A9-B3FA-1846-90DC-26C06E6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E5B87-903D-8799-2919-57FF97B7A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755"/>
            <a:ext cx="12192000" cy="614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A4EA-6A8F-8B5E-924C-3A044B59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AFA84A-A45C-CD00-31AD-A3643967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413"/>
            <a:ext cx="12191999" cy="60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5896-2407-83AD-DD2E-D0A7781F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C4D6-F82B-EED8-AD97-285C8BDF166D}"/>
              </a:ext>
            </a:extLst>
          </p:cNvPr>
          <p:cNvSpPr txBox="1">
            <a:spLocks/>
          </p:cNvSpPr>
          <p:nvPr/>
        </p:nvSpPr>
        <p:spPr>
          <a:xfrm>
            <a:off x="1703512" y="747252"/>
            <a:ext cx="8712968" cy="584388"/>
          </a:xfrm>
          <a:prstGeom prst="rect">
            <a:avLst/>
          </a:prstGeom>
        </p:spPr>
        <p:txBody>
          <a:bodyPr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STACK: Last-In-First-Out (LIFO)</a:t>
            </a:r>
            <a:endParaRPr lang="en-IN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E34B28-1B47-89FE-05A2-CA5655F7EC61}"/>
              </a:ext>
            </a:extLst>
          </p:cNvPr>
          <p:cNvSpPr txBox="1">
            <a:spLocks/>
          </p:cNvSpPr>
          <p:nvPr/>
        </p:nvSpPr>
        <p:spPr>
          <a:xfrm>
            <a:off x="1981200" y="1196753"/>
            <a:ext cx="8363272" cy="534057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push (stack *s, </a:t>
            </a:r>
            <a:r>
              <a:rPr lang="en-IN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element</a:t>
            </a:r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" indent="0" algn="just">
              <a:buFont typeface="Arial" panose="020B0604020202020204" pitchFamily="34" charset="0"/>
              <a:buNone/>
            </a:pPr>
            <a:r>
              <a:rPr lang="en-IN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IN">
                <a:solidFill>
                  <a:srgbClr val="B808BC"/>
                </a:solidFill>
                <a:latin typeface="Times New Roman" pitchFamily="18" charset="0"/>
                <a:cs typeface="Times New Roman" pitchFamily="18" charset="0"/>
              </a:rPr>
              <a:t>/* Insert an element in the stack */</a:t>
            </a:r>
          </a:p>
          <a:p>
            <a:pPr algn="just"/>
            <a:r>
              <a:rPr lang="en-IN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pop (stack *s);</a:t>
            </a:r>
          </a:p>
          <a:p>
            <a:pPr marL="45720" indent="0" algn="just">
              <a:buFont typeface="Arial" panose="020B0604020202020204" pitchFamily="34" charset="0"/>
              <a:buNone/>
            </a:pPr>
            <a:r>
              <a:rPr lang="en-IN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IN">
                <a:solidFill>
                  <a:srgbClr val="B808BC"/>
                </a:solidFill>
                <a:latin typeface="Times New Roman" pitchFamily="18" charset="0"/>
                <a:cs typeface="Times New Roman" pitchFamily="18" charset="0"/>
              </a:rPr>
              <a:t>/* Remove and return the top element */</a:t>
            </a:r>
          </a:p>
          <a:p>
            <a:pPr algn="just"/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create (stack  *s);</a:t>
            </a:r>
          </a:p>
          <a:p>
            <a:pPr marL="45720" indent="0" algn="just">
              <a:buFont typeface="Arial" panose="020B0604020202020204" pitchFamily="34" charset="0"/>
              <a:buNone/>
            </a:pPr>
            <a:r>
              <a:rPr lang="en-IN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IN">
                <a:solidFill>
                  <a:srgbClr val="B808BC"/>
                </a:solidFill>
                <a:latin typeface="Times New Roman" pitchFamily="18" charset="0"/>
                <a:cs typeface="Times New Roman" pitchFamily="18" charset="0"/>
              </a:rPr>
              <a:t>/* Create a new stack */</a:t>
            </a:r>
          </a:p>
          <a:p>
            <a:pPr algn="just"/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isempty (stack *s);</a:t>
            </a:r>
          </a:p>
          <a:p>
            <a:pPr marL="45720" indent="0" algn="just">
              <a:buFont typeface="Arial" panose="020B0604020202020204" pitchFamily="34" charset="0"/>
              <a:buNone/>
            </a:pPr>
            <a:r>
              <a:rPr lang="en-IN">
                <a:solidFill>
                  <a:srgbClr val="B808BC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/* Check if stack is empty */</a:t>
            </a:r>
          </a:p>
          <a:p>
            <a:pPr algn="just"/>
            <a:r>
              <a:rPr lang="en-I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isfull (stack *s);</a:t>
            </a:r>
          </a:p>
          <a:p>
            <a:pPr marL="45720" indent="0" algn="just">
              <a:buFont typeface="Arial" panose="020B0604020202020204" pitchFamily="34" charset="0"/>
              <a:buNone/>
            </a:pPr>
            <a:r>
              <a:rPr lang="en-IN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IN">
                <a:solidFill>
                  <a:srgbClr val="B808BC"/>
                </a:solidFill>
                <a:latin typeface="Times New Roman" pitchFamily="18" charset="0"/>
                <a:cs typeface="Times New Roman" pitchFamily="18" charset="0"/>
              </a:rPr>
              <a:t>/* Check if stack is full */</a:t>
            </a:r>
          </a:p>
          <a:p>
            <a:pPr algn="just"/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04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DAC0-93CF-6B8F-CC7C-1B5D83B7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DD7420-A6D2-E800-1649-FD8A50DC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619" y="4005064"/>
            <a:ext cx="685800" cy="1295400"/>
          </a:xfrm>
          <a:prstGeom prst="rect">
            <a:avLst/>
          </a:prstGeom>
          <a:solidFill>
            <a:srgbClr val="CC0000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6963FD8-41CB-4070-CFC0-ECFB47F3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619" y="2557264"/>
            <a:ext cx="685800" cy="1447800"/>
          </a:xfrm>
          <a:prstGeom prst="rect">
            <a:avLst/>
          </a:prstGeom>
          <a:solidFill>
            <a:srgbClr val="CCFFFF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862D8A7A-91F2-160B-7994-54877418CE01}"/>
              </a:ext>
            </a:extLst>
          </p:cNvPr>
          <p:cNvGrpSpPr>
            <a:grpSpLocks/>
          </p:cNvGrpSpPr>
          <p:nvPr/>
        </p:nvGrpSpPr>
        <p:grpSpPr bwMode="auto">
          <a:xfrm>
            <a:off x="7243319" y="3789169"/>
            <a:ext cx="1219200" cy="461963"/>
            <a:chOff x="576" y="2448"/>
            <a:chExt cx="768" cy="291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83F1E6A4-6C64-D765-455E-874E2C0C6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48"/>
              <a:ext cx="432" cy="291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660DDFC3-39A4-4777-BA02-65872E6E3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288" cy="0"/>
            </a:xfrm>
            <a:prstGeom prst="line">
              <a:avLst/>
            </a:prstGeom>
            <a:noFill/>
            <a:ln w="317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AE35F2-17EA-B9FA-C6C2-87D79F7D0514}"/>
              </a:ext>
            </a:extLst>
          </p:cNvPr>
          <p:cNvGrpSpPr>
            <a:grpSpLocks/>
          </p:cNvGrpSpPr>
          <p:nvPr/>
        </p:nvGrpSpPr>
        <p:grpSpPr bwMode="auto">
          <a:xfrm>
            <a:off x="7243319" y="3239894"/>
            <a:ext cx="1219200" cy="461963"/>
            <a:chOff x="576" y="2448"/>
            <a:chExt cx="768" cy="291"/>
          </a:xfrm>
        </p:grpSpPr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795B5C8-6C51-4382-F7B4-EA5DC5DA0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48"/>
              <a:ext cx="432" cy="291"/>
            </a:xfrm>
            <a:prstGeom prst="rect">
              <a:avLst/>
            </a:prstGeom>
            <a:noFill/>
            <a:ln w="317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6D18BC5F-2244-66EC-BE19-31A513D9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288" cy="0"/>
            </a:xfrm>
            <a:prstGeom prst="line">
              <a:avLst/>
            </a:prstGeom>
            <a:noFill/>
            <a:ln w="317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FBE47-A078-E47F-D735-A2F347290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619" y="3471664"/>
            <a:ext cx="685800" cy="533400"/>
          </a:xfrm>
          <a:prstGeom prst="rect">
            <a:avLst/>
          </a:prstGeom>
          <a:solidFill>
            <a:srgbClr val="CC0000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0EAABDE-E97E-3E30-BA6A-7CCBCBBC9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4190" y="2557264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PUSH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DA26B8-A829-58DE-F4C3-B13DB9DB4F2D}"/>
              </a:ext>
            </a:extLst>
          </p:cNvPr>
          <p:cNvCxnSpPr/>
          <p:nvPr/>
        </p:nvCxnSpPr>
        <p:spPr>
          <a:xfrm flipV="1">
            <a:off x="6793486" y="3140968"/>
            <a:ext cx="0" cy="11371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A48AB3-CE35-E5A8-AF32-0546CCE4B89F}"/>
              </a:ext>
            </a:extLst>
          </p:cNvPr>
          <p:cNvSpPr txBox="1"/>
          <p:nvPr/>
        </p:nvSpPr>
        <p:spPr>
          <a:xfrm>
            <a:off x="324367" y="978034"/>
            <a:ext cx="414272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Time new roman"/>
              </a:rPr>
              <a:t>Algorithm </a:t>
            </a:r>
          </a:p>
          <a:p>
            <a:r>
              <a:rPr lang="en-IN" dirty="0">
                <a:latin typeface="Time new roman"/>
              </a:rPr>
              <a:t>POP(STACK, TOP)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START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1. Check whether the stack is empty.</a:t>
            </a:r>
          </a:p>
          <a:p>
            <a:r>
              <a:rPr lang="en-IN" dirty="0">
                <a:latin typeface="Time new roman"/>
              </a:rPr>
              <a:t>   IF (TOP == -1)</a:t>
            </a:r>
          </a:p>
          <a:p>
            <a:r>
              <a:rPr lang="en-IN" dirty="0">
                <a:latin typeface="Time new roman"/>
              </a:rPr>
              <a:t>      Print "Stack Underflow"</a:t>
            </a:r>
          </a:p>
          <a:p>
            <a:r>
              <a:rPr lang="en-IN" dirty="0">
                <a:latin typeface="Time new roman"/>
              </a:rPr>
              <a:t>      STOP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2. Store the top element.</a:t>
            </a:r>
          </a:p>
          <a:p>
            <a:r>
              <a:rPr lang="en-IN" dirty="0">
                <a:latin typeface="Time new roman"/>
              </a:rPr>
              <a:t>      ITEM = STACK[TOP]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3. Decrement TOP by 1.</a:t>
            </a:r>
          </a:p>
          <a:p>
            <a:r>
              <a:rPr lang="en-IN" dirty="0">
                <a:latin typeface="Time new roman"/>
              </a:rPr>
              <a:t>      TOP = TOP - 1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4. Print the deleted element (ITEM).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5. STOP</a:t>
            </a:r>
          </a:p>
        </p:txBody>
      </p:sp>
    </p:spTree>
    <p:extLst>
      <p:ext uri="{BB962C8B-B14F-4D97-AF65-F5344CB8AC3E}">
        <p14:creationId xmlns:p14="http://schemas.microsoft.com/office/powerpoint/2010/main" val="217293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5709-586E-56B9-D7C6-1C7154E9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A2AFD-B204-4FE5-EB6B-48F7FC412822}"/>
              </a:ext>
            </a:extLst>
          </p:cNvPr>
          <p:cNvSpPr txBox="1"/>
          <p:nvPr/>
        </p:nvSpPr>
        <p:spPr>
          <a:xfrm>
            <a:off x="482272" y="834587"/>
            <a:ext cx="446335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 new roman"/>
              </a:rPr>
              <a:t>Algorithm </a:t>
            </a:r>
          </a:p>
          <a:p>
            <a:r>
              <a:rPr lang="en-IN" dirty="0">
                <a:latin typeface="Time new roman"/>
              </a:rPr>
              <a:t>PUSH(STACK, TOP, MAX, ITEM)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START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1. Check whether the stack is full.</a:t>
            </a:r>
          </a:p>
          <a:p>
            <a:r>
              <a:rPr lang="en-IN" dirty="0">
                <a:latin typeface="Time new roman"/>
              </a:rPr>
              <a:t>   IF (TOP == MAX - 1)</a:t>
            </a:r>
          </a:p>
          <a:p>
            <a:r>
              <a:rPr lang="en-IN" dirty="0">
                <a:latin typeface="Time new roman"/>
              </a:rPr>
              <a:t>      Print "Stack Overflow"</a:t>
            </a:r>
          </a:p>
          <a:p>
            <a:r>
              <a:rPr lang="en-IN" dirty="0">
                <a:latin typeface="Time new roman"/>
              </a:rPr>
              <a:t>      STOP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2. Increment TOP by 1.</a:t>
            </a:r>
          </a:p>
          <a:p>
            <a:r>
              <a:rPr lang="en-IN" dirty="0">
                <a:latin typeface="Time new roman"/>
              </a:rPr>
              <a:t>      TOP = TOP + 1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3. Insert the new element.</a:t>
            </a:r>
          </a:p>
          <a:p>
            <a:r>
              <a:rPr lang="en-IN" dirty="0">
                <a:latin typeface="Time new roman"/>
              </a:rPr>
              <a:t>      STACK[TOP] = ITEM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4. Print "Element inserted successfully."</a:t>
            </a:r>
          </a:p>
          <a:p>
            <a:endParaRPr lang="en-IN" dirty="0">
              <a:latin typeface="Time new roman"/>
            </a:endParaRPr>
          </a:p>
          <a:p>
            <a:r>
              <a:rPr lang="en-IN" dirty="0">
                <a:latin typeface="Time new roman"/>
              </a:rPr>
              <a:t>5. STOP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72D8A-2004-8769-0240-EBD3292FF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686" y="4005064"/>
            <a:ext cx="685800" cy="1295400"/>
          </a:xfrm>
          <a:prstGeom prst="rect">
            <a:avLst/>
          </a:prstGeom>
          <a:solidFill>
            <a:srgbClr val="CC0000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C4B089-B081-2062-68C9-3227DA751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686" y="2557264"/>
            <a:ext cx="685800" cy="1447800"/>
          </a:xfrm>
          <a:prstGeom prst="rect">
            <a:avLst/>
          </a:prstGeom>
          <a:solidFill>
            <a:srgbClr val="CCFFFF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EEAF46-9C9A-D9C9-914B-237AF6CE5068}"/>
              </a:ext>
            </a:extLst>
          </p:cNvPr>
          <p:cNvGrpSpPr>
            <a:grpSpLocks/>
          </p:cNvGrpSpPr>
          <p:nvPr/>
        </p:nvGrpSpPr>
        <p:grpSpPr bwMode="auto">
          <a:xfrm>
            <a:off x="7336386" y="3789169"/>
            <a:ext cx="1219200" cy="461963"/>
            <a:chOff x="576" y="2448"/>
            <a:chExt cx="768" cy="291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9B9A83EE-0F3B-5F80-89D4-FB08642C4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48"/>
              <a:ext cx="432" cy="291"/>
            </a:xfrm>
            <a:prstGeom prst="rect">
              <a:avLst/>
            </a:prstGeom>
            <a:noFill/>
            <a:ln w="317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DB25C458-703F-F003-A098-A74878174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288" cy="0"/>
            </a:xfrm>
            <a:prstGeom prst="line">
              <a:avLst/>
            </a:prstGeom>
            <a:noFill/>
            <a:ln w="317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F26B24-B754-5AE6-8CD3-BA5B63626133}"/>
              </a:ext>
            </a:extLst>
          </p:cNvPr>
          <p:cNvGrpSpPr>
            <a:grpSpLocks/>
          </p:cNvGrpSpPr>
          <p:nvPr/>
        </p:nvGrpSpPr>
        <p:grpSpPr bwMode="auto">
          <a:xfrm>
            <a:off x="7336386" y="3239894"/>
            <a:ext cx="1219200" cy="461963"/>
            <a:chOff x="576" y="2448"/>
            <a:chExt cx="768" cy="291"/>
          </a:xfrm>
        </p:grpSpPr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340E0315-FB43-5795-D6EB-C881AF8AF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48"/>
              <a:ext cx="432" cy="291"/>
            </a:xfrm>
            <a:prstGeom prst="rect">
              <a:avLst/>
            </a:prstGeom>
            <a:noFill/>
            <a:ln w="3175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82209FB-B65C-0635-5233-5BFDD1239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288" cy="0"/>
            </a:xfrm>
            <a:prstGeom prst="line">
              <a:avLst/>
            </a:prstGeom>
            <a:noFill/>
            <a:ln w="317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7042043-2403-6D83-4174-431DC1352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686" y="3471664"/>
            <a:ext cx="685800" cy="533400"/>
          </a:xfrm>
          <a:prstGeom prst="rect">
            <a:avLst/>
          </a:prstGeom>
          <a:solidFill>
            <a:srgbClr val="CC0000"/>
          </a:solidFill>
          <a:ln w="3175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DE81B394-3051-133F-576C-187E794F1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9910" y="2557265"/>
            <a:ext cx="7505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POP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4E78D1-00DB-FFFF-B193-37D68AEC340F}"/>
              </a:ext>
            </a:extLst>
          </p:cNvPr>
          <p:cNvCxnSpPr/>
          <p:nvPr/>
        </p:nvCxnSpPr>
        <p:spPr>
          <a:xfrm>
            <a:off x="6865494" y="3140968"/>
            <a:ext cx="0" cy="12241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2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7B11-251F-635E-AF9A-AFD76BE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07E08F-8571-54E4-85F5-748B51548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568"/>
            <a:ext cx="12192000" cy="606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FDAA-8B86-341F-1DB9-93A3F88F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84CD7B-5922-F967-510C-02376648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576" y="804184"/>
            <a:ext cx="8255424" cy="6053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426452-5324-81B6-C9A3-283F74B38727}"/>
              </a:ext>
            </a:extLst>
          </p:cNvPr>
          <p:cNvSpPr txBox="1"/>
          <p:nvPr/>
        </p:nvSpPr>
        <p:spPr>
          <a:xfrm>
            <a:off x="85098" y="804184"/>
            <a:ext cx="385147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 new roman"/>
              </a:rPr>
              <a:t>Expression Notations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Infix : Operator appears between operands</a:t>
            </a:r>
            <a:r>
              <a:rPr lang="en-IN" dirty="0">
                <a:latin typeface="Time new roman"/>
              </a:rPr>
              <a:t>.</a:t>
            </a:r>
            <a:endParaRPr lang="en-IN" b="1" dirty="0">
              <a:latin typeface="Time new roman"/>
            </a:endParaRPr>
          </a:p>
          <a:p>
            <a:pPr>
              <a:buNone/>
            </a:pPr>
            <a:r>
              <a:rPr lang="en-IN" b="1" dirty="0">
                <a:latin typeface="Time new roman"/>
              </a:rPr>
              <a:t>A + B × C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Prefix: </a:t>
            </a:r>
            <a:r>
              <a:rPr lang="en-IN" dirty="0">
                <a:latin typeface="Time new roman"/>
              </a:rPr>
              <a:t>Operator appears before operands.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 </a:t>
            </a:r>
            <a:r>
              <a:rPr lang="en-IN" dirty="0">
                <a:latin typeface="Time new roman"/>
              </a:rPr>
              <a:t>+AB</a:t>
            </a:r>
            <a:endParaRPr lang="en-IN" b="1" dirty="0">
              <a:latin typeface="Time new roman"/>
            </a:endParaRPr>
          </a:p>
          <a:p>
            <a:pPr>
              <a:buNone/>
            </a:pPr>
            <a:r>
              <a:rPr lang="en-IN" b="1" dirty="0">
                <a:latin typeface="Time new roman"/>
              </a:rPr>
              <a:t>Postfix Expressions: </a:t>
            </a:r>
            <a:r>
              <a:rPr lang="en-IN" dirty="0">
                <a:latin typeface="Time new roman"/>
              </a:rPr>
              <a:t>Operator appears after operands.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 </a:t>
            </a:r>
            <a:r>
              <a:rPr lang="en-IN" dirty="0">
                <a:latin typeface="Time new roman"/>
              </a:rPr>
              <a:t>AB+</a:t>
            </a:r>
          </a:p>
          <a:p>
            <a:pPr>
              <a:buNone/>
            </a:pPr>
            <a:endParaRPr lang="en-IN" b="1" dirty="0">
              <a:latin typeface="Time new roman"/>
            </a:endParaRPr>
          </a:p>
          <a:p>
            <a:pPr>
              <a:buNone/>
            </a:pPr>
            <a:r>
              <a:rPr lang="en-IN" b="1" dirty="0">
                <a:latin typeface="Time new roman"/>
              </a:rPr>
              <a:t>Highest: exponential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Next Highest: Multiplication and Division</a:t>
            </a:r>
          </a:p>
          <a:p>
            <a:pPr>
              <a:buNone/>
            </a:pPr>
            <a:r>
              <a:rPr lang="en-IN" b="1" dirty="0">
                <a:latin typeface="Time new roman"/>
              </a:rPr>
              <a:t>Lowest: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39911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B599-FBE4-8D68-A512-796ADEDC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BCDD86E-3382-369E-D3E2-20941F8E8EFD}"/>
              </a:ext>
            </a:extLst>
          </p:cNvPr>
          <p:cNvSpPr txBox="1"/>
          <p:nvPr/>
        </p:nvSpPr>
        <p:spPr>
          <a:xfrm>
            <a:off x="206477" y="716602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rgbClr val="FF0000"/>
                </a:solidFill>
                <a:latin typeface="Time new roman"/>
              </a:rPr>
              <a:t>Prefix Notation( Polish Notation)</a:t>
            </a:r>
          </a:p>
          <a:p>
            <a:pPr algn="ctr"/>
            <a:endParaRPr lang="en-IN" sz="2000" dirty="0">
              <a:solidFill>
                <a:srgbClr val="FF0000"/>
              </a:solidFill>
              <a:latin typeface="Time new roman"/>
            </a:endParaRPr>
          </a:p>
          <a:p>
            <a:pPr algn="just"/>
            <a:r>
              <a:rPr lang="en-IN" sz="2000" b="1" dirty="0">
                <a:latin typeface="Time new roman"/>
              </a:rPr>
              <a:t>Prefix Notation</a:t>
            </a:r>
            <a:r>
              <a:rPr lang="en-IN" sz="2000" dirty="0">
                <a:latin typeface="Time new roman"/>
              </a:rPr>
              <a:t>, also known as </a:t>
            </a:r>
            <a:r>
              <a:rPr lang="en-IN" sz="2000" b="1" dirty="0">
                <a:latin typeface="Time new roman"/>
              </a:rPr>
              <a:t>Polish Notation (PN)</a:t>
            </a:r>
            <a:r>
              <a:rPr lang="en-IN" sz="2000" dirty="0">
                <a:latin typeface="Time new roman"/>
              </a:rPr>
              <a:t>, is a method of writing arithmetic expressions in which the </a:t>
            </a:r>
            <a:r>
              <a:rPr lang="en-IN" sz="2000" b="1" dirty="0">
                <a:latin typeface="Time new roman"/>
              </a:rPr>
              <a:t>operator is placed before its operands</a:t>
            </a:r>
            <a:r>
              <a:rPr lang="en-IN" sz="2000" dirty="0">
                <a:latin typeface="Time new roman"/>
              </a:rPr>
              <a:t>. In this notation, </a:t>
            </a:r>
            <a:r>
              <a:rPr lang="en-IN" sz="2000" b="1" dirty="0">
                <a:latin typeface="Time new roman"/>
              </a:rPr>
              <a:t>parentheses are not required</a:t>
            </a:r>
            <a:r>
              <a:rPr lang="en-IN" sz="2000" dirty="0">
                <a:latin typeface="Time new roman"/>
              </a:rPr>
              <a:t> because the order of operations is determined by the position of the operators and operands.</a:t>
            </a:r>
          </a:p>
          <a:p>
            <a:pPr algn="just"/>
            <a:endParaRPr lang="en-IN" sz="2000" dirty="0">
              <a:latin typeface="Time new roman"/>
            </a:endParaRPr>
          </a:p>
          <a:p>
            <a:r>
              <a:rPr lang="en-IN" sz="2000" b="1" dirty="0">
                <a:latin typeface="Time new roman"/>
              </a:rPr>
              <a:t>Characteristics</a:t>
            </a:r>
          </a:p>
          <a:p>
            <a:pPr lvl="0"/>
            <a:r>
              <a:rPr lang="en-IN" sz="2000" dirty="0">
                <a:latin typeface="Time new roman"/>
              </a:rPr>
              <a:t>Operator is written </a:t>
            </a:r>
            <a:r>
              <a:rPr lang="en-IN" sz="2000" b="1" dirty="0">
                <a:latin typeface="Time new roman"/>
              </a:rPr>
              <a:t>before</a:t>
            </a:r>
            <a:r>
              <a:rPr lang="en-IN" sz="2000" dirty="0">
                <a:latin typeface="Time new roman"/>
              </a:rPr>
              <a:t> the operands. </a:t>
            </a:r>
          </a:p>
          <a:p>
            <a:pPr lvl="0"/>
            <a:r>
              <a:rPr lang="en-IN" sz="2000" dirty="0">
                <a:latin typeface="Time new roman"/>
              </a:rPr>
              <a:t>Parentheses are </a:t>
            </a:r>
            <a:r>
              <a:rPr lang="en-IN" sz="2000" b="1" dirty="0">
                <a:latin typeface="Time new roman"/>
              </a:rPr>
              <a:t>not required</a:t>
            </a:r>
            <a:r>
              <a:rPr lang="en-IN" sz="2000" dirty="0">
                <a:latin typeface="Time new roman"/>
              </a:rPr>
              <a:t>. </a:t>
            </a:r>
          </a:p>
          <a:p>
            <a:pPr lvl="0"/>
            <a:r>
              <a:rPr lang="en-IN" sz="2000" dirty="0">
                <a:latin typeface="Time new roman"/>
              </a:rPr>
              <a:t>Eliminates ambiguity in expressions. </a:t>
            </a:r>
          </a:p>
          <a:p>
            <a:pPr lvl="0"/>
            <a:r>
              <a:rPr lang="en-IN" sz="2000" dirty="0">
                <a:latin typeface="Time new roman"/>
              </a:rPr>
              <a:t>Easy for computers and compilers to process. </a:t>
            </a:r>
          </a:p>
          <a:p>
            <a:pPr lvl="0"/>
            <a:r>
              <a:rPr lang="en-IN" sz="2000" dirty="0">
                <a:latin typeface="Time new roman"/>
              </a:rPr>
              <a:t>Commonly used in expression conversion and compiler design.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1904B-83C7-A22C-6DE3-C036B8F36F99}"/>
              </a:ext>
            </a:extLst>
          </p:cNvPr>
          <p:cNvSpPr txBox="1"/>
          <p:nvPr/>
        </p:nvSpPr>
        <p:spPr>
          <a:xfrm>
            <a:off x="6302477" y="843677"/>
            <a:ext cx="5761704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 new roman"/>
              </a:rPr>
              <a:t>Post fix Notation( Reverse Polish Notation)</a:t>
            </a:r>
          </a:p>
          <a:p>
            <a:endParaRPr lang="en-IN" sz="2000" b="1" dirty="0">
              <a:latin typeface="Time new roman"/>
            </a:endParaRPr>
          </a:p>
          <a:p>
            <a:pPr algn="just"/>
            <a:r>
              <a:rPr lang="en-IN" sz="2000" b="1" dirty="0">
                <a:latin typeface="Time new roman"/>
              </a:rPr>
              <a:t>Postfix notation</a:t>
            </a:r>
            <a:r>
              <a:rPr lang="en-IN" sz="2000" dirty="0">
                <a:latin typeface="Time new roman"/>
              </a:rPr>
              <a:t>, also known as </a:t>
            </a:r>
            <a:r>
              <a:rPr lang="en-IN" sz="2000" b="1" dirty="0">
                <a:latin typeface="Time new roman"/>
              </a:rPr>
              <a:t>Reverse Polish Notation (RPN)</a:t>
            </a:r>
            <a:r>
              <a:rPr lang="en-IN" sz="2000" dirty="0">
                <a:latin typeface="Time new roman"/>
              </a:rPr>
              <a:t>, is a method of writing an expression in which the </a:t>
            </a:r>
            <a:r>
              <a:rPr lang="en-IN" sz="2000" b="1" dirty="0">
                <a:latin typeface="Time new roman"/>
              </a:rPr>
              <a:t>operator is placed after its operands. </a:t>
            </a:r>
            <a:r>
              <a:rPr lang="en-IN" sz="2000" dirty="0">
                <a:latin typeface="Time new roman"/>
              </a:rPr>
              <a:t>Postfix expressions are commonly evaluated using a </a:t>
            </a:r>
            <a:r>
              <a:rPr lang="en-IN" sz="2000" b="1" dirty="0">
                <a:latin typeface="Time new roman"/>
              </a:rPr>
              <a:t>stack</a:t>
            </a:r>
            <a:r>
              <a:rPr lang="en-IN" sz="2000" dirty="0">
                <a:latin typeface="Time new roman"/>
              </a:rPr>
              <a:t>, making them suitable for computer-based expression processing.</a:t>
            </a:r>
          </a:p>
          <a:p>
            <a:r>
              <a:rPr lang="en-IN" b="1" dirty="0">
                <a:latin typeface="Time new roman"/>
              </a:rPr>
              <a:t>Characteristics</a:t>
            </a:r>
          </a:p>
          <a:p>
            <a:pPr lvl="0"/>
            <a:r>
              <a:rPr lang="en-IN" b="1" dirty="0">
                <a:latin typeface="Time new roman"/>
              </a:rPr>
              <a:t>Operator is placed after the operands.</a:t>
            </a:r>
            <a:br>
              <a:rPr lang="en-IN" dirty="0">
                <a:latin typeface="Time new roman"/>
              </a:rPr>
            </a:br>
            <a:r>
              <a:rPr lang="en-IN" dirty="0">
                <a:latin typeface="Time new roman"/>
              </a:rPr>
              <a:t>Example: AB+ </a:t>
            </a:r>
          </a:p>
          <a:p>
            <a:pPr lvl="0"/>
            <a:r>
              <a:rPr lang="en-IN" b="1" dirty="0">
                <a:latin typeface="Time new roman"/>
              </a:rPr>
              <a:t>Parentheses are not required</a:t>
            </a:r>
            <a:r>
              <a:rPr lang="en-IN" dirty="0">
                <a:latin typeface="Time new roman"/>
              </a:rPr>
              <a:t> to specify the order of operations. </a:t>
            </a:r>
          </a:p>
          <a:p>
            <a:pPr lvl="0"/>
            <a:r>
              <a:rPr lang="en-IN" b="1" dirty="0">
                <a:latin typeface="Time new roman"/>
              </a:rPr>
              <a:t>No ambiguity occurs</a:t>
            </a:r>
            <a:r>
              <a:rPr lang="en-IN" dirty="0">
                <a:latin typeface="Time new roman"/>
              </a:rPr>
              <a:t> because the position of operators determines the evaluation order. </a:t>
            </a:r>
          </a:p>
          <a:p>
            <a:pPr lvl="0"/>
            <a:r>
              <a:rPr lang="en-IN" b="1" dirty="0">
                <a:latin typeface="Time new roman"/>
              </a:rPr>
              <a:t>Stack is used</a:t>
            </a:r>
            <a:r>
              <a:rPr lang="en-IN" dirty="0">
                <a:latin typeface="Time new roman"/>
              </a:rPr>
              <a:t> to efficiently evaluate postfix expressions. </a:t>
            </a:r>
          </a:p>
          <a:p>
            <a:pPr lvl="0"/>
            <a:r>
              <a:rPr lang="en-IN" b="1" dirty="0">
                <a:latin typeface="Time new roman"/>
              </a:rPr>
              <a:t>Suitable for computer and compiler processing</a:t>
            </a:r>
            <a:r>
              <a:rPr lang="en-IN" dirty="0">
                <a:latin typeface="Time new roman"/>
              </a:rPr>
              <a:t> because expressions can be evaluated systematically using stack operations.</a:t>
            </a:r>
          </a:p>
        </p:txBody>
      </p:sp>
    </p:spTree>
    <p:extLst>
      <p:ext uri="{BB962C8B-B14F-4D97-AF65-F5344CB8AC3E}">
        <p14:creationId xmlns:p14="http://schemas.microsoft.com/office/powerpoint/2010/main" val="189594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3E79-9628-6560-AF3B-2CDFD089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40182-26A6-79C8-86C2-AB9CA90DA6D3}"/>
              </a:ext>
            </a:extLst>
          </p:cNvPr>
          <p:cNvSpPr txBox="1"/>
          <p:nvPr/>
        </p:nvSpPr>
        <p:spPr>
          <a:xfrm>
            <a:off x="381885" y="887066"/>
            <a:ext cx="10817352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 new roman"/>
              </a:rPr>
              <a:t>Algorithm INFIX_TO_POSTFIX(Expression)</a:t>
            </a:r>
          </a:p>
          <a:p>
            <a:endParaRPr lang="en-IN" dirty="0"/>
          </a:p>
          <a:p>
            <a:pPr algn="just"/>
            <a:r>
              <a:rPr lang="en-IN" sz="2000" dirty="0">
                <a:latin typeface="Time new roman"/>
              </a:rPr>
              <a:t>START</a:t>
            </a:r>
          </a:p>
          <a:p>
            <a:pPr algn="just"/>
            <a:r>
              <a:rPr lang="en-IN" sz="2000" dirty="0">
                <a:latin typeface="Time new roman"/>
              </a:rPr>
              <a:t>1. Create an empty stack S.</a:t>
            </a:r>
          </a:p>
          <a:p>
            <a:pPr algn="just"/>
            <a:r>
              <a:rPr lang="en-IN" sz="2000" dirty="0">
                <a:latin typeface="Time new roman"/>
              </a:rPr>
              <a:t>2. Scan the infix expression from left to right.</a:t>
            </a:r>
          </a:p>
          <a:p>
            <a:pPr algn="just"/>
            <a:r>
              <a:rPr lang="en-IN" sz="2000" dirty="0">
                <a:latin typeface="Time new roman"/>
              </a:rPr>
              <a:t>3. For each symbol in the expression:</a:t>
            </a:r>
          </a:p>
          <a:p>
            <a:pPr algn="just"/>
            <a:r>
              <a:rPr lang="en-IN" sz="2000" dirty="0">
                <a:latin typeface="Time new roman"/>
              </a:rPr>
              <a:t>   a) If the symbol is an operand, append it to the postfix expression.</a:t>
            </a:r>
          </a:p>
          <a:p>
            <a:pPr algn="just"/>
            <a:r>
              <a:rPr lang="en-IN" sz="2000" dirty="0">
                <a:latin typeface="Time new roman"/>
              </a:rPr>
              <a:t>   b) If the symbol is '(',push it onto the stack.</a:t>
            </a:r>
          </a:p>
          <a:p>
            <a:pPr algn="just"/>
            <a:r>
              <a:rPr lang="en-IN" sz="2000" dirty="0">
                <a:latin typeface="Time new roman"/>
              </a:rPr>
              <a:t>   c) If the symbol is ')’, pop operators from the stack and append </a:t>
            </a:r>
            <a:r>
              <a:rPr lang="en-IN" sz="2000" dirty="0" err="1">
                <a:latin typeface="Time new roman"/>
              </a:rPr>
              <a:t>themto</a:t>
            </a:r>
            <a:r>
              <a:rPr lang="en-IN" sz="2000" dirty="0">
                <a:latin typeface="Time new roman"/>
              </a:rPr>
              <a:t> the postfix expression until '(‘      is found. Remove '(' from the stack.</a:t>
            </a:r>
          </a:p>
          <a:p>
            <a:pPr algn="just"/>
            <a:r>
              <a:rPr lang="en-IN" sz="2000" dirty="0">
                <a:latin typeface="Time new roman"/>
              </a:rPr>
              <a:t>   d) If the symbol is an operator, while the stack is not empty and the operator at the top of the stack has higher or equal precedence than the current operator: Pop the operator from the stack Append it to the postfix expression Push the current operator onto the stack.</a:t>
            </a:r>
          </a:p>
          <a:p>
            <a:pPr algn="just"/>
            <a:r>
              <a:rPr lang="en-IN" sz="2000" dirty="0">
                <a:latin typeface="Time new roman"/>
              </a:rPr>
              <a:t>4. Repeat Step 3 until the entire expression is scanned.</a:t>
            </a:r>
          </a:p>
          <a:p>
            <a:pPr algn="just"/>
            <a:r>
              <a:rPr lang="en-IN" sz="2000" dirty="0">
                <a:latin typeface="Time new roman"/>
              </a:rPr>
              <a:t>5. Pop all the remaining operators from the stack and append them to the postfix expression.</a:t>
            </a:r>
          </a:p>
          <a:p>
            <a:pPr algn="just"/>
            <a:r>
              <a:rPr lang="en-IN" sz="2000" dirty="0">
                <a:latin typeface="Time new roman"/>
              </a:rPr>
              <a:t>6. Display the postfix expression.</a:t>
            </a:r>
          </a:p>
          <a:p>
            <a:pPr algn="just"/>
            <a:r>
              <a:rPr lang="en-IN" sz="2000" dirty="0">
                <a:latin typeface="Time new roman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4134105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5795-C5E7-80CD-568C-C4AB2C14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8D564-5C12-5DAE-405C-FEC42197C75B}"/>
              </a:ext>
            </a:extLst>
          </p:cNvPr>
          <p:cNvSpPr txBox="1"/>
          <p:nvPr/>
        </p:nvSpPr>
        <p:spPr>
          <a:xfrm>
            <a:off x="182929" y="749725"/>
            <a:ext cx="6117336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 new roman"/>
              </a:rPr>
              <a:t>Algorithm: POSTFIX_EVALUATION(P)</a:t>
            </a:r>
          </a:p>
          <a:p>
            <a:r>
              <a:rPr lang="en-IN" b="1" dirty="0">
                <a:latin typeface="Time new roman"/>
              </a:rPr>
              <a:t>Step 1: Add a sentinel '#' at the end of the postfix expression P.</a:t>
            </a:r>
          </a:p>
          <a:p>
            <a:r>
              <a:rPr lang="en-IN" b="1" dirty="0">
                <a:latin typeface="Time new roman"/>
              </a:rPr>
              <a:t>Step 2: Scan the postfix expression P from left to right, reading one character at a time.</a:t>
            </a:r>
          </a:p>
          <a:p>
            <a:r>
              <a:rPr lang="en-IN" b="1" dirty="0">
                <a:latin typeface="Time new roman"/>
              </a:rPr>
              <a:t>Step 3: Read the next character from P.</a:t>
            </a:r>
          </a:p>
          <a:p>
            <a:r>
              <a:rPr lang="en-IN" b="1" dirty="0">
                <a:latin typeface="Time new roman"/>
              </a:rPr>
              <a:t>Step 4: If the character is an operand, Push it onto the stack.</a:t>
            </a:r>
          </a:p>
          <a:p>
            <a:r>
              <a:rPr lang="en-IN" b="1" dirty="0">
                <a:latin typeface="Time new roman"/>
              </a:rPr>
              <a:t>        Else if next character is an operator</a:t>
            </a:r>
          </a:p>
          <a:p>
            <a:r>
              <a:rPr lang="en-IN" b="1" dirty="0">
                <a:latin typeface="Time new roman"/>
              </a:rPr>
              <a:t>  (a) Pop the top element from the stack.  Let it be VAR1.</a:t>
            </a:r>
          </a:p>
          <a:p>
            <a:r>
              <a:rPr lang="en-IN" b="1" dirty="0">
                <a:latin typeface="Time new roman"/>
              </a:rPr>
              <a:t>b) Again pop the top element (originally next-to-top) from the stack. Let it be VAR2.</a:t>
            </a:r>
          </a:p>
          <a:p>
            <a:r>
              <a:rPr lang="en-IN" b="1" dirty="0">
                <a:latin typeface="Time new roman"/>
              </a:rPr>
              <a:t>(c) Compute ANSWER = VAR2 (Operator) VAR1</a:t>
            </a:r>
          </a:p>
          <a:p>
            <a:r>
              <a:rPr lang="en-IN" b="1" dirty="0">
                <a:latin typeface="Time new roman"/>
              </a:rPr>
              <a:t> (d) Push ANSWER onto the stack.</a:t>
            </a:r>
          </a:p>
          <a:p>
            <a:r>
              <a:rPr lang="en-IN" b="1" dirty="0">
                <a:latin typeface="Time new roman"/>
              </a:rPr>
              <a:t>      End If</a:t>
            </a:r>
          </a:p>
          <a:p>
            <a:r>
              <a:rPr lang="en-IN" b="1" dirty="0">
                <a:latin typeface="Time new roman"/>
              </a:rPr>
              <a:t>Step 5: Repeat Steps 3 and 4 until the sentinel '#' is encountered.</a:t>
            </a:r>
          </a:p>
          <a:p>
            <a:r>
              <a:rPr lang="en-IN" b="1" dirty="0">
                <a:latin typeface="Time new roman"/>
              </a:rPr>
              <a:t>Step 6: Pop the top element from the stack. Let it be VAR3.</a:t>
            </a:r>
          </a:p>
          <a:p>
            <a:r>
              <a:rPr lang="en-IN" b="1" dirty="0">
                <a:latin typeface="Time new roman"/>
              </a:rPr>
              <a:t>Step 7: Set ANSWER = VAR3</a:t>
            </a:r>
          </a:p>
          <a:p>
            <a:r>
              <a:rPr lang="en-IN" b="1" dirty="0">
                <a:latin typeface="Time new roman"/>
              </a:rPr>
              <a:t>Step 8: Display ANSWER.</a:t>
            </a:r>
          </a:p>
          <a:p>
            <a:r>
              <a:rPr lang="en-IN" b="1" dirty="0">
                <a:latin typeface="Time new roman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943715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8110-5095-945B-D9F8-044BF084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D8F55D-EC1F-1730-C51A-5143C32CB568}"/>
              </a:ext>
            </a:extLst>
          </p:cNvPr>
          <p:cNvSpPr txBox="1"/>
          <p:nvPr/>
        </p:nvSpPr>
        <p:spPr>
          <a:xfrm>
            <a:off x="126492" y="769101"/>
            <a:ext cx="11986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Example.  </a:t>
            </a:r>
            <a:r>
              <a:rPr lang="en-IN" sz="2000" dirty="0">
                <a:latin typeface="Time new roman"/>
              </a:rPr>
              <a:t>Convert the following </a:t>
            </a:r>
            <a:r>
              <a:rPr lang="en-IN" sz="2000" b="1" dirty="0">
                <a:latin typeface="Time new roman"/>
              </a:rPr>
              <a:t>mathematical infix expression</a:t>
            </a:r>
            <a:r>
              <a:rPr lang="en-IN" sz="2000" dirty="0">
                <a:latin typeface="Time new roman"/>
              </a:rPr>
              <a:t> into its </a:t>
            </a:r>
            <a:r>
              <a:rPr lang="en-IN" sz="2000" b="1" dirty="0">
                <a:latin typeface="Time new roman"/>
              </a:rPr>
              <a:t>postfix expression</a:t>
            </a:r>
            <a:r>
              <a:rPr lang="en-IN" sz="2000" dirty="0">
                <a:latin typeface="Time new roman"/>
              </a:rPr>
              <a:t>. Then, </a:t>
            </a:r>
            <a:r>
              <a:rPr lang="en-IN" sz="2000" b="1" dirty="0">
                <a:latin typeface="Time new roman"/>
              </a:rPr>
              <a:t>evaluate the postfix expression: ((8 + (6 - 2)) × 5) ÷ 4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872293-813B-0F8F-194E-93F5D0C16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520731"/>
              </p:ext>
            </p:extLst>
          </p:nvPr>
        </p:nvGraphicFramePr>
        <p:xfrm>
          <a:off x="275303" y="1707217"/>
          <a:ext cx="10677833" cy="494921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17064">
                  <a:extLst>
                    <a:ext uri="{9D8B030D-6E8A-4147-A177-3AD203B41FA5}">
                      <a16:colId xmlns:a16="http://schemas.microsoft.com/office/drawing/2014/main" val="1865902388"/>
                    </a:ext>
                  </a:extLst>
                </a:gridCol>
                <a:gridCol w="2686923">
                  <a:extLst>
                    <a:ext uri="{9D8B030D-6E8A-4147-A177-3AD203B41FA5}">
                      <a16:colId xmlns:a16="http://schemas.microsoft.com/office/drawing/2014/main" val="677697939"/>
                    </a:ext>
                  </a:extLst>
                </a:gridCol>
                <a:gridCol w="2686923">
                  <a:extLst>
                    <a:ext uri="{9D8B030D-6E8A-4147-A177-3AD203B41FA5}">
                      <a16:colId xmlns:a16="http://schemas.microsoft.com/office/drawing/2014/main" val="1985799468"/>
                    </a:ext>
                  </a:extLst>
                </a:gridCol>
                <a:gridCol w="2686923">
                  <a:extLst>
                    <a:ext uri="{9D8B030D-6E8A-4147-A177-3AD203B41FA5}">
                      <a16:colId xmlns:a16="http://schemas.microsoft.com/office/drawing/2014/main" val="965076525"/>
                    </a:ext>
                  </a:extLst>
                </a:gridCol>
              </a:tblGrid>
              <a:tr h="72850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Sr.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Scan Expression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Postfix Expression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Stack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5517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1.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279339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2.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42868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3.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46522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4.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03076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5.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77454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6.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146881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7.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((+(-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210320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862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((+(-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9357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9.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862-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((+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058495"/>
                  </a:ext>
                </a:extLst>
              </a:tr>
              <a:tr h="42207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10.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862-+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 new roman"/>
                        </a:rPr>
                        <a:t>(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9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69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8973-0EA9-4686-32C7-FD5D9367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48382A-991D-ABC5-2EB0-7F6803679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78180"/>
              </p:ext>
            </p:extLst>
          </p:nvPr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086709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947859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327579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39686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11.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(*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92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12.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(*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13.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862-+5*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13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862-+5*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68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15.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862-+5*4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50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16.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End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862-+5*4/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707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48472B2-0FC1-919E-8CB3-13C56E9465FE}"/>
              </a:ext>
            </a:extLst>
          </p:cNvPr>
          <p:cNvSpPr txBox="1"/>
          <p:nvPr/>
        </p:nvSpPr>
        <p:spPr>
          <a:xfrm>
            <a:off x="3040380" y="3244334"/>
            <a:ext cx="6117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 new roman"/>
              </a:rPr>
              <a:t>Final Post Fix Expression: 862-+5*4/</a:t>
            </a:r>
          </a:p>
        </p:txBody>
      </p:sp>
    </p:spTree>
    <p:extLst>
      <p:ext uri="{BB962C8B-B14F-4D97-AF65-F5344CB8AC3E}">
        <p14:creationId xmlns:p14="http://schemas.microsoft.com/office/powerpoint/2010/main" val="3260132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76DB-6990-127A-A72A-CA471324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5083D1-5FB2-FA14-EFF4-92FFAE833EE0}"/>
              </a:ext>
            </a:extLst>
          </p:cNvPr>
          <p:cNvSpPr txBox="1"/>
          <p:nvPr/>
        </p:nvSpPr>
        <p:spPr>
          <a:xfrm>
            <a:off x="3739896" y="674870"/>
            <a:ext cx="4133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 new roman"/>
              </a:rPr>
              <a:t>Evaluate the Postfix Expression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28FA45-E1E5-2379-FB38-9EBEA9E7C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111726"/>
              </p:ext>
            </p:extLst>
          </p:nvPr>
        </p:nvGraphicFramePr>
        <p:xfrm>
          <a:off x="1078992" y="1136535"/>
          <a:ext cx="886155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388">
                  <a:extLst>
                    <a:ext uri="{9D8B030D-6E8A-4147-A177-3AD203B41FA5}">
                      <a16:colId xmlns:a16="http://schemas.microsoft.com/office/drawing/2014/main" val="1063584931"/>
                    </a:ext>
                  </a:extLst>
                </a:gridCol>
                <a:gridCol w="3161284">
                  <a:extLst>
                    <a:ext uri="{9D8B030D-6E8A-4147-A177-3AD203B41FA5}">
                      <a16:colId xmlns:a16="http://schemas.microsoft.com/office/drawing/2014/main" val="1715047697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3258454542"/>
                    </a:ext>
                  </a:extLst>
                </a:gridCol>
                <a:gridCol w="1052576">
                  <a:extLst>
                    <a:ext uri="{9D8B030D-6E8A-4147-A177-3AD203B41FA5}">
                      <a16:colId xmlns:a16="http://schemas.microsoft.com/office/drawing/2014/main" val="3371399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Symbol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Stack After Operation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Operation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Sr.No</a:t>
                      </a:r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1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Push 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1.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5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8 6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Push 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2.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034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8 6 2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Push 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3.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64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8 4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6-2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4.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2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+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12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8+4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5.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46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12 5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Push 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82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*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12*5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7.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90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60 4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Push 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8.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423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/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60/4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rgbClr val="C00000"/>
                            </a:solidFill>
                          </a:ln>
                          <a:solidFill>
                            <a:srgbClr val="C00000"/>
                          </a:solidFill>
                          <a:latin typeface="Time new roman"/>
                        </a:rPr>
                        <a:t>9.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397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B6BDDA-C6EA-3F9A-D553-D07F3F210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40552"/>
              </p:ext>
            </p:extLst>
          </p:nvPr>
        </p:nvGraphicFramePr>
        <p:xfrm>
          <a:off x="1078992" y="4844935"/>
          <a:ext cx="9004808" cy="1463040"/>
        </p:xfrm>
        <a:graphic>
          <a:graphicData uri="http://schemas.openxmlformats.org/drawingml/2006/table">
            <a:tbl>
              <a:tblPr/>
              <a:tblGrid>
                <a:gridCol w="4502404">
                  <a:extLst>
                    <a:ext uri="{9D8B030D-6E8A-4147-A177-3AD203B41FA5}">
                      <a16:colId xmlns:a16="http://schemas.microsoft.com/office/drawing/2014/main" val="403589721"/>
                    </a:ext>
                  </a:extLst>
                </a:gridCol>
                <a:gridCol w="4502404">
                  <a:extLst>
                    <a:ext uri="{9D8B030D-6E8A-4147-A177-3AD203B41FA5}">
                      <a16:colId xmlns:a16="http://schemas.microsoft.com/office/drawing/2014/main" val="1124451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49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Infix Expression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((8+(6-2))*5)/4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713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Postfix Expression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862-+5*4/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28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Evaluated 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9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049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C12A-A63F-6B08-B25B-29071800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16177-3B4C-145F-4765-6F4FC3A6A0A4}"/>
              </a:ext>
            </a:extLst>
          </p:cNvPr>
          <p:cNvSpPr txBox="1"/>
          <p:nvPr/>
        </p:nvSpPr>
        <p:spPr>
          <a:xfrm>
            <a:off x="2816352" y="1783080"/>
            <a:ext cx="6582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ACTIVITITY BEYOND CLASS ROOM (3 Hrs)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185A0-D7EC-3C68-0F30-4DDEBC0FEA91}"/>
              </a:ext>
            </a:extLst>
          </p:cNvPr>
          <p:cNvSpPr txBox="1"/>
          <p:nvPr/>
        </p:nvSpPr>
        <p:spPr>
          <a:xfrm>
            <a:off x="310896" y="2967335"/>
            <a:ext cx="115397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Evaluate the post fix expression 5 24 3 2 2 ^ * / -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convert the following infix expression into postfix expression  ((A+(B-C))/D).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Convert the following infix expression into postfix notation: (A+B)*(C-D)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Convert the following infix expression into prefix notation: (A-B/C)*(D+E)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Evaluate the following postfix expression using a stack. Show the stack contents after each operation: 52+83-*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Write a C++ program to implement a stack using an array and perform </a:t>
            </a:r>
            <a:r>
              <a:rPr lang="en-IN" b="1" dirty="0">
                <a:latin typeface="Time new roman"/>
              </a:rPr>
              <a:t>PUSH, POP, and DISPLAY</a:t>
            </a:r>
            <a:r>
              <a:rPr lang="en-IN" dirty="0">
                <a:latin typeface="Time new roman"/>
              </a:rPr>
              <a:t> operations. Also handle </a:t>
            </a:r>
            <a:r>
              <a:rPr lang="en-IN" b="1" dirty="0">
                <a:latin typeface="Time new roman"/>
              </a:rPr>
              <a:t>Stack Overflow and Stack Underflow.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Write a C++ program to convert an </a:t>
            </a:r>
            <a:r>
              <a:rPr lang="en-IN" b="1" dirty="0">
                <a:latin typeface="Time new roman"/>
              </a:rPr>
              <a:t>infix expression into its equivalent postfix expression using a stack</a:t>
            </a:r>
            <a:r>
              <a:rPr lang="en-IN" dirty="0">
                <a:latin typeface="Time new roman"/>
              </a:rPr>
              <a:t>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 new roman"/>
              </a:rPr>
              <a:t>Write a C++ program to evaluate the following postfix expression using a stack: 52+83-*</a:t>
            </a:r>
            <a:endParaRPr lang="en-IN" dirty="0">
              <a:latin typeface="Time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66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5F88-0939-4DBF-F404-F8CAE945A960}"/>
              </a:ext>
            </a:extLst>
          </p:cNvPr>
          <p:cNvSpPr txBox="1"/>
          <p:nvPr/>
        </p:nvSpPr>
        <p:spPr>
          <a:xfrm>
            <a:off x="603504" y="1993393"/>
            <a:ext cx="9409176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Rajesh K. Shukla, Data Structures using C &amp; C++ , </a:t>
            </a:r>
            <a:r>
              <a:rPr lang="en-US" sz="2000" spc="-20">
                <a:latin typeface="Times New Roman" panose="02020603050405020304" pitchFamily="18" charset="0"/>
                <a:ea typeface="Tahoma" panose="020B0604030504040204" pitchFamily="34" charset="0"/>
              </a:rPr>
              <a:t>Wiley publication </a:t>
            </a:r>
            <a:endParaRPr lang="en-US" sz="2000" spc="-20" dirty="0">
              <a:effectLst/>
              <a:latin typeface="Times New Roman" panose="02020603050405020304" pitchFamily="18" charset="0"/>
              <a:ea typeface="Tahoma" panose="020B0604030504040204" pitchFamily="34" charset="0"/>
            </a:endParaRP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1364</Words>
  <Application>Microsoft Office PowerPoint</Application>
  <PresentationFormat>Widescreen</PresentationFormat>
  <Paragraphs>252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Courier New</vt:lpstr>
      <vt:lpstr>Time new roman</vt:lpstr>
      <vt:lpstr>Times New Roman</vt:lpstr>
      <vt:lpstr>Wingdings</vt:lpstr>
      <vt:lpstr>Office Theme</vt:lpstr>
      <vt:lpstr>Stack Memory Representation and Basic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16</cp:revision>
  <dcterms:created xsi:type="dcterms:W3CDTF">2025-10-01T15:47:58Z</dcterms:created>
  <dcterms:modified xsi:type="dcterms:W3CDTF">2026-08-10T07:04:04Z</dcterms:modified>
</cp:coreProperties>
</file>